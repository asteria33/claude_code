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Intégrer l'IA sur Shopify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</a:rPr>
              <a:t>Roadmap M&amp;M — De la connexion rapide à l'orchestration intelligente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737360" cy="411480"/>
          </a:xfrm>
          <a:prstGeom prst="roundRect">
            <a:avLst>
              <a:gd name="adj" fmla="val 5000"/>
            </a:avLst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M&amp;M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47120" cy="228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051560"/>
            <a:ext cx="3383280" cy="5394960"/>
          </a:xfrm>
          <a:prstGeom prst="roundRect">
            <a:avLst>
              <a:gd name="adj" fmla="val 5000"/>
            </a:avLst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051560"/>
            <a:ext cx="3383280" cy="594360"/>
          </a:xfrm>
          <a:prstGeom prst="roundRect">
            <a:avLst>
              <a:gd name="adj" fmla="val 5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097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</a:rPr>
              <a:t>⚡  OPTION 1 — Connexion Rapide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IA existantes, plug &amp; play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2084832"/>
            <a:ext cx="109728" cy="109728"/>
          </a:xfrm>
          <a:prstGeom prst="roundRect">
            <a:avLst>
              <a:gd name="adj" fmla="val 5000"/>
            </a:avLst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0116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Tidio / Gorgias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2402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Chat + tickets automatisés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2651760"/>
            <a:ext cx="109728" cy="109728"/>
          </a:xfrm>
          <a:prstGeom prst="roundRect">
            <a:avLst>
              <a:gd name="adj" fmla="val 5000"/>
            </a:avLst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5786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Shopify Inbox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8072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Natif, FAQ &amp; recommandations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" y="3218688"/>
            <a:ext cx="109728" cy="109728"/>
          </a:xfrm>
          <a:prstGeom prst="roundRect">
            <a:avLst>
              <a:gd name="adj" fmla="val 5000"/>
            </a:avLst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455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Klaviyo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741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Emails personnalisés auto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" y="3785616"/>
            <a:ext cx="109728" cy="109728"/>
          </a:xfrm>
          <a:prstGeom prst="roundRect">
            <a:avLst>
              <a:gd name="adj" fmla="val 5000"/>
            </a:avLst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7124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ChatGPT Plugin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9410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Réponses contextuelles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15968"/>
            <a:ext cx="3108960" cy="1828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434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✅  Avantages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17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• Déploiement en 1–2 semaines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10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• Coût prévisible (SaaS)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202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• 0 dev requis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7220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B700"/>
                </a:solidFill>
              </a:rPr>
              <a:t>→ Vision : exécution immédiate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3200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700"/>
                </a:solidFill>
              </a:rPr>
              <a:t>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0752" y="35844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Évolue
vers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1051560"/>
            <a:ext cx="7543800" cy="5394960"/>
          </a:xfrm>
          <a:prstGeom prst="roundRect">
            <a:avLst>
              <a:gd name="adj" fmla="val 5000"/>
            </a:avLst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43400" y="1051560"/>
            <a:ext cx="7543800" cy="594360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109728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🤖  OPTION 2 — Orchestration Multi-Agents  (Vision Cible)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7720" y="1755648"/>
            <a:ext cx="1874519" cy="658368"/>
          </a:xfrm>
          <a:prstGeom prst="roundRect">
            <a:avLst>
              <a:gd name="adj" fmla="val 5000"/>
            </a:avLst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1801368"/>
            <a:ext cx="1737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❓  Question client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2084831"/>
            <a:ext cx="1737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Via chat Shopify, email, WhatsApp…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2432303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7720" y="2743200"/>
            <a:ext cx="1874519" cy="658368"/>
          </a:xfrm>
          <a:prstGeom prst="roundRect">
            <a:avLst>
              <a:gd name="adj" fmla="val 5000"/>
            </a:avLst>
          </a:prstGeom>
          <a:solidFill>
            <a:srgbClr val="1A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2788920"/>
            <a:ext cx="1737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🔍  Agent 1 — Retrieval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3072384"/>
            <a:ext cx="1737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Fiche produit · stock · retour · historique commande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3419856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7720" y="3730752"/>
            <a:ext cx="1874519" cy="658368"/>
          </a:xfrm>
          <a:prstGeom prst="roundRect">
            <a:avLst>
              <a:gd name="adj" fmla="val 500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3776472"/>
            <a:ext cx="1737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✍️   Agent 2 — Rédacteur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4059936"/>
            <a:ext cx="1737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Reformule avec le ton de marque M&amp;M
(bienveillant · expert parental · rassurant)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407407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17720" y="4718304"/>
            <a:ext cx="1874519" cy="658368"/>
          </a:xfrm>
          <a:prstGeom prst="roundRect">
            <a:avLst>
              <a:gd name="adj" fmla="val 5000"/>
            </a:avLst>
          </a:prstGeom>
          <a:solidFill>
            <a:srgbClr val="0A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60" y="4764024"/>
            <a:ext cx="1737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🛡  Agent 3 — 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5047488"/>
            <a:ext cx="1737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Vérifie cohérence, mots interdits, sécurité avant envoi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5394959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17720" y="5705856"/>
            <a:ext cx="1874519" cy="658368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60" y="5751576"/>
            <a:ext cx="1737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Réponse finale au client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60" y="6035040"/>
            <a:ext cx="1737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Personnalisée · on-brand · fiable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1664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Pourquoi c'est puissant pour M&amp;M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29400" y="2084831"/>
            <a:ext cx="685800" cy="256032"/>
          </a:xfrm>
          <a:prstGeom prst="roundRect">
            <a:avLst>
              <a:gd name="adj" fmla="val 5000"/>
            </a:avLst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9400" y="2093975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Agent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79208" y="2066543"/>
            <a:ext cx="4315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Optimisé RAG + API Shopify
→ info toujours à jour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29400" y="3163824"/>
            <a:ext cx="685800" cy="256032"/>
          </a:xfrm>
          <a:prstGeom prst="roundRect">
            <a:avLst>
              <a:gd name="adj" fmla="val 500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3172968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Agent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79208" y="3145536"/>
            <a:ext cx="4315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Prompt système sur ton de marque
→ mots interdits, valeurs M&amp;M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29400" y="4242816"/>
            <a:ext cx="685800" cy="256032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29400" y="4251959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Agent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79208" y="4224528"/>
            <a:ext cx="4315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Garde-fou avant envoi
→ zéro réponse incohérente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29400" y="5321808"/>
            <a:ext cx="685800" cy="256032"/>
          </a:xfrm>
          <a:prstGeom prst="roundRect">
            <a:avLst>
              <a:gd name="adj" fmla="val 5000"/>
            </a:avLst>
          </a:prstGeom>
          <a:solidFill>
            <a:srgbClr val="1A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29400" y="5330952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Évolutif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79208" y="5303520"/>
            <a:ext cx="4315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Ajouter un agent upsell, traduction,
notif stock facilement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80560" y="6126480"/>
            <a:ext cx="7269480" cy="256032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0" y="6144768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2ECC71"/>
                </a:solidFill>
              </a:rPr>
              <a:t>→ Vision terme : architecture souveraine, différenciante, 100 % aux couleurs de M&amp;M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